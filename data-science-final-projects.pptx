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7"/>
  </p:notesMasterIdLst>
  <p:sldIdLst>
    <p:sldId id="256" r:id="rId2"/>
    <p:sldId id="257" r:id="rId3"/>
    <p:sldId id="258" r:id="rId4"/>
    <p:sldId id="270" r:id="rId5"/>
    <p:sldId id="271" r:id="rId6"/>
    <p:sldId id="272" r:id="rId7"/>
    <p:sldId id="273" r:id="rId8"/>
    <p:sldId id="274" r:id="rId9"/>
    <p:sldId id="259" r:id="rId10"/>
    <p:sldId id="278" r:id="rId11"/>
    <p:sldId id="279" r:id="rId12"/>
    <p:sldId id="280" r:id="rId13"/>
    <p:sldId id="281" r:id="rId14"/>
    <p:sldId id="282" r:id="rId15"/>
    <p:sldId id="260" r:id="rId16"/>
    <p:sldId id="263" r:id="rId17"/>
    <p:sldId id="264" r:id="rId18"/>
    <p:sldId id="265" r:id="rId19"/>
    <p:sldId id="266" r:id="rId20"/>
    <p:sldId id="267" r:id="rId21"/>
    <p:sldId id="268" r:id="rId22"/>
    <p:sldId id="261" r:id="rId23"/>
    <p:sldId id="269" r:id="rId24"/>
    <p:sldId id="275" r:id="rId25"/>
    <p:sldId id="276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72"/>
  </p:normalViewPr>
  <p:slideViewPr>
    <p:cSldViewPr snapToGrid="0">
      <p:cViewPr varScale="1">
        <p:scale>
          <a:sx n="134" d="100"/>
          <a:sy n="134" d="100"/>
        </p:scale>
        <p:origin x="2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07A1B0-ACBC-D447-BC52-DE80858CD7D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CECE99-7EC5-744E-AE28-3E105C581A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952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054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424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20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404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038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45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960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728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95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09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768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76C9ED-68B5-024C-9605-8F26FFAEC05E}" type="datetimeFigureOut">
              <a:rPr lang="en-US" smtClean="0"/>
              <a:t>11/13/25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F91E2-692F-A34F-8214-DB914DB67D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859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0120-C613-A461-D76E-AB1D13242D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Star Types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44D89A-080B-1180-10EE-92E03003F83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Aiden Hammond, Sneha </a:t>
            </a:r>
            <a:r>
              <a:rPr lang="en-US" dirty="0" err="1"/>
              <a:t>Kummarapurugu</a:t>
            </a:r>
            <a:r>
              <a:rPr lang="en-US" dirty="0"/>
              <a:t>, Juan Hernandez</a:t>
            </a:r>
          </a:p>
        </p:txBody>
      </p:sp>
    </p:spTree>
    <p:extLst>
      <p:ext uri="{BB962C8B-B14F-4D97-AF65-F5344CB8AC3E}">
        <p14:creationId xmlns:p14="http://schemas.microsoft.com/office/powerpoint/2010/main" val="318927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AD677-4782-7492-D832-AF5E12188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863" y="430924"/>
            <a:ext cx="11517805" cy="860151"/>
          </a:xfrm>
          <a:noFill/>
        </p:spPr>
        <p:txBody>
          <a:bodyPr>
            <a:normAutofit fontScale="90000"/>
          </a:bodyPr>
          <a:lstStyle/>
          <a:p>
            <a:r>
              <a:rPr lang="en-US" b="1" u="sng" dirty="0"/>
              <a:t>Our Objective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BF81E1-9E29-5FF7-132A-D8EA52751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45021"/>
            <a:ext cx="10515600" cy="4487917"/>
          </a:xfrm>
        </p:spPr>
        <p:txBody>
          <a:bodyPr anchor="ctr"/>
          <a:lstStyle/>
          <a:p>
            <a:pPr algn="just"/>
            <a:r>
              <a:rPr lang="en-US" sz="3600" dirty="0"/>
              <a:t>The goal of this project is to use the key stellar features to build and evaluate classification models that predict a star's type into one of the target labels. The target labels for prediction are: Red Dwarf, Brown Dwarf, White Dwarf, Main Sequence, </a:t>
            </a:r>
            <a:r>
              <a:rPr lang="en-US" sz="3600" dirty="0" err="1"/>
              <a:t>Supergiants</a:t>
            </a:r>
            <a:r>
              <a:rPr lang="en-US" sz="3600" dirty="0"/>
              <a:t>, and Hypergiants.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252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7C1C5-2FA2-2E71-1AF9-2DFF75EA8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65451-7F0B-0DC9-626B-AAFBDFFF37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946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8323104-F295-BF1D-AF74-73C2BA88D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894" y="0"/>
            <a:ext cx="92242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1728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47E5DC-DC93-C461-77DA-02A48D3632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088" y="0"/>
            <a:ext cx="10363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126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FDF237-FEAF-A3D7-1050-D0E29FC848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088" y="0"/>
            <a:ext cx="103638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7347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237EA35-0C02-C580-4BF4-74905488C0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6610" y="0"/>
            <a:ext cx="7398779" cy="6857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246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34C7296-0382-AF7F-07BC-64C73EE55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0"/>
            <a:ext cx="7772400" cy="27220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4AAAB9-E5FB-D9DF-1C00-B505BEFBBE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9359" y="2728261"/>
            <a:ext cx="4593281" cy="412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2980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3C611-88F6-CF17-FCA3-B9AC30C15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the Decision Tree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70D355-73DE-53C3-FC59-AF6AF3B4C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Predicting Star Type with Interpretability</a:t>
            </a:r>
            <a:endParaRPr lang="en-US" dirty="0">
              <a:solidFill>
                <a:srgbClr val="333333"/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378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19275"/>
            <a:ext cx="3429000" cy="407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1819275"/>
            <a:ext cx="3429000" cy="407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91500" y="1819275"/>
            <a:ext cx="3429000" cy="40767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785812" y="2819400"/>
            <a:ext cx="3000375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A Rule-Based Model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857250" y="3895725"/>
            <a:ext cx="2857500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A Decision Tree is a supervised learning algorithm that builds a flowchart-like structure. It's a "white-box" model because its logic is easy to see and understand.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4595812" y="2819400"/>
            <a:ext cx="3000375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Recursive Splitting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4667250" y="3895725"/>
            <a:ext cx="2857500" cy="154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The model finds the best feature to "split" the data. It recursively repeats this process, creating "branches" and "nodes" until it reaches a final "leaf" (the prediction).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215913" y="2819400"/>
            <a:ext cx="1380172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Our Goal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477250" y="3514725"/>
            <a:ext cx="2857500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Our objective was to classify stars into one of six types: Brown Dwarf, Red Dwarf, White Dwarf, Main Sequence, Red Giant, and Supergiant.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0288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95975" y="212407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48825" y="2124075"/>
            <a:ext cx="5143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What is a Decision Tree?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1116338" y="1725975"/>
            <a:ext cx="10440900" cy="6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Preprocessing:</a:t>
            </a:r>
            <a:r>
              <a:rPr lang="en-US" sz="172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We first converted categorical features ('Star color', 'Spectral Class') into numerical values using LabelEncoder.</a:t>
            </a:r>
            <a:endParaRPr sz="1784"/>
          </a:p>
        </p:txBody>
      </p:sp>
      <p:sp>
        <p:nvSpPr>
          <p:cNvPr id="108" name="Google Shape;108;p15"/>
          <p:cNvSpPr txBox="1"/>
          <p:nvPr/>
        </p:nvSpPr>
        <p:spPr>
          <a:xfrm>
            <a:off x="1116338" y="2624391"/>
            <a:ext cx="10440900" cy="6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Data Split:</a:t>
            </a:r>
            <a:r>
              <a:rPr lang="en-US" sz="172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We used an 80/20 train/test split. We also used 'stratification' to ensure all six star types were fairly represented in both sets.</a:t>
            </a:r>
            <a:endParaRPr sz="1784"/>
          </a:p>
        </p:txBody>
      </p:sp>
      <p:sp>
        <p:nvSpPr>
          <p:cNvPr id="109" name="Google Shape;109;p15"/>
          <p:cNvSpPr txBox="1"/>
          <p:nvPr/>
        </p:nvSpPr>
        <p:spPr>
          <a:xfrm>
            <a:off x="1116338" y="3522808"/>
            <a:ext cx="10440900" cy="6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Training:</a:t>
            </a:r>
            <a:r>
              <a:rPr lang="en-US" sz="172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We trained a DecisionTreeClassifier on the 192 training samples, fitting the model to the physical features.</a:t>
            </a:r>
            <a:endParaRPr sz="1784"/>
          </a:p>
        </p:txBody>
      </p:sp>
      <p:sp>
        <p:nvSpPr>
          <p:cNvPr id="110" name="Google Shape;110;p15"/>
          <p:cNvSpPr txBox="1"/>
          <p:nvPr/>
        </p:nvSpPr>
        <p:spPr>
          <a:xfrm>
            <a:off x="1116338" y="4421224"/>
            <a:ext cx="10440900" cy="6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Tuning:</a:t>
            </a:r>
            <a:r>
              <a:rPr lang="en-US" sz="172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We set a </a:t>
            </a:r>
            <a:r>
              <a:rPr lang="en-US" sz="1720" b="1" i="0" u="none" strike="noStrike" cap="none">
                <a:solidFill>
                  <a:srgbClr val="005088"/>
                </a:solidFill>
                <a:latin typeface="DM Sans"/>
                <a:ea typeface="DM Sans"/>
                <a:cs typeface="DM Sans"/>
                <a:sym typeface="DM Sans"/>
              </a:rPr>
              <a:t>max_depth=5</a:t>
            </a:r>
            <a:r>
              <a:rPr lang="en-US" sz="172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. This is a critical hyperparameter to prevent "overfitting" and keep the model's rules simple and interpretable.</a:t>
            </a:r>
            <a:endParaRPr sz="1784"/>
          </a:p>
        </p:txBody>
      </p:sp>
      <p:pic>
        <p:nvPicPr>
          <p:cNvPr id="111" name="Google Shape;11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708" y="1786679"/>
            <a:ext cx="364223" cy="291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0708" y="2685095"/>
            <a:ext cx="327800" cy="291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0708" y="3583511"/>
            <a:ext cx="364223" cy="2913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0708" y="4481928"/>
            <a:ext cx="291378" cy="29137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Our Methodology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6"/>
          <p:cNvSpPr txBox="1"/>
          <p:nvPr/>
        </p:nvSpPr>
        <p:spPr>
          <a:xfrm>
            <a:off x="571538" y="2479462"/>
            <a:ext cx="52863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800" b="1" i="0" u="none" strike="noStrike" cap="none" dirty="0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98.33%</a:t>
            </a:r>
            <a:endParaRPr sz="1100" dirty="0"/>
          </a:p>
        </p:txBody>
      </p:sp>
      <p:sp>
        <p:nvSpPr>
          <p:cNvPr id="121" name="Google Shape;121;p16"/>
          <p:cNvSpPr txBox="1"/>
          <p:nvPr/>
        </p:nvSpPr>
        <p:spPr>
          <a:xfrm>
            <a:off x="485825" y="4243387"/>
            <a:ext cx="5286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Accuracy on Test Set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5857850" y="2320119"/>
            <a:ext cx="6027000" cy="40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5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Exceptional Accuracy</a:t>
            </a:r>
            <a:endParaRPr sz="1520"/>
          </a:p>
        </p:txBody>
      </p:sp>
      <p:sp>
        <p:nvSpPr>
          <p:cNvPr id="123" name="Google Shape;123;p16"/>
          <p:cNvSpPr txBox="1"/>
          <p:nvPr/>
        </p:nvSpPr>
        <p:spPr>
          <a:xfrm>
            <a:off x="5857850" y="2919973"/>
            <a:ext cx="5739900" cy="5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5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model was highly successful, correctly classifying 59 out of 60 unseen stars in the test set.</a:t>
            </a:r>
            <a:endParaRPr sz="1520"/>
          </a:p>
        </p:txBody>
      </p:sp>
      <p:sp>
        <p:nvSpPr>
          <p:cNvPr id="124" name="Google Shape;124;p16"/>
          <p:cNvSpPr txBox="1"/>
          <p:nvPr/>
        </p:nvSpPr>
        <p:spPr>
          <a:xfrm>
            <a:off x="5857850" y="3664619"/>
            <a:ext cx="5739900" cy="9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65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Crucially, the full classification report showed near-perfect metrics across all classes, including </a:t>
            </a:r>
            <a:r>
              <a:rPr lang="en-US" sz="1465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Precision, Recall, and F1-Scores</a:t>
            </a:r>
            <a:r>
              <a:rPr lang="en-US" sz="1465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, confirming robust performance.</a:t>
            </a:r>
            <a:endParaRPr sz="1520"/>
          </a:p>
        </p:txBody>
      </p:sp>
      <p:sp>
        <p:nvSpPr>
          <p:cNvPr id="125" name="Google Shape;125;p16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Model Performance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428750"/>
            <a:ext cx="11049000" cy="485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1123950" y="4795837"/>
            <a:ext cx="99441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</a:t>
            </a:r>
            <a:r>
              <a:rPr lang="en-US" sz="1350" b="1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Absolute Magnitude</a:t>
            </a:r>
            <a:r>
              <a:rPr lang="en-US" sz="1350" b="0" i="1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feature dominates the model's decision-making (80%). This confirms that the model is learning physics, as a star's brightness is the primary factor in its stellar classification.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Key Finding: What Drives the Prediction?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462212"/>
            <a:ext cx="5286375" cy="279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2462212"/>
            <a:ext cx="5286375" cy="2790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8"/>
          <p:cNvSpPr txBox="1"/>
          <p:nvPr/>
        </p:nvSpPr>
        <p:spPr>
          <a:xfrm>
            <a:off x="962025" y="2852737"/>
            <a:ext cx="473059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Summary and Interpretation</a:t>
            </a:r>
            <a:endParaRPr/>
          </a:p>
        </p:txBody>
      </p:sp>
      <p:sp>
        <p:nvSpPr>
          <p:cNvPr id="140" name="Google Shape;140;p18"/>
          <p:cNvSpPr txBox="1"/>
          <p:nvPr/>
        </p:nvSpPr>
        <p:spPr>
          <a:xfrm>
            <a:off x="962025" y="3405187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The Decision Tree provided a fast, interpretable model with high performance. Its rules confirm the fundamental role of Absolute Magnitude and Temperature in stellar classification.</a:t>
            </a:r>
            <a:endParaRPr/>
          </a:p>
        </p:txBody>
      </p:sp>
      <p:sp>
        <p:nvSpPr>
          <p:cNvPr id="141" name="Google Shape;141;p18"/>
          <p:cNvSpPr txBox="1"/>
          <p:nvPr/>
        </p:nvSpPr>
        <p:spPr>
          <a:xfrm>
            <a:off x="6724650" y="2852737"/>
            <a:ext cx="4730591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Transition to KNN</a:t>
            </a:r>
            <a:endParaRPr/>
          </a:p>
        </p:txBody>
      </p:sp>
      <p:sp>
        <p:nvSpPr>
          <p:cNvPr id="142" name="Google Shape;142;p18"/>
          <p:cNvSpPr txBox="1"/>
          <p:nvPr/>
        </p:nvSpPr>
        <p:spPr>
          <a:xfrm>
            <a:off x="6724650" y="3405187"/>
            <a:ext cx="4505325" cy="1285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While the Decision Tree is powerful, its hard decision boundaries can be unstable. We now transition to Juan, who will introduce the </a:t>
            </a:r>
            <a:r>
              <a:rPr lang="en-US" sz="1350" b="1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K-Nearest Neighbors (KNN)</a:t>
            </a:r>
            <a:r>
              <a:rPr lang="en-US" sz="1350" b="0" i="0" u="none" strike="noStrike" cap="none">
                <a:solidFill>
                  <a:srgbClr val="333333"/>
                </a:solidFill>
                <a:latin typeface="DM Sans"/>
                <a:ea typeface="DM Sans"/>
                <a:cs typeface="DM Sans"/>
                <a:sym typeface="DM Sans"/>
              </a:rPr>
              <a:t> model, which uses a flexible, distance-based classification approach.</a:t>
            </a:r>
            <a:endParaRPr/>
          </a:p>
        </p:txBody>
      </p:sp>
      <p:sp>
        <p:nvSpPr>
          <p:cNvPr id="143" name="Google Shape;143;p18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5088"/>
                </a:solidFill>
                <a:latin typeface="Merriweather"/>
                <a:ea typeface="Merriweather"/>
                <a:cs typeface="Merriweather"/>
                <a:sym typeface="Merriweather"/>
              </a:rPr>
              <a:t>Decision Tree: Conclusion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031FD-CC01-AF3F-91D8-C8977338A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K-Nearest Neighbor model (KNN)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057B9-C75F-5F81-D8A7-0B9D28816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75141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232782-94D6-3226-49ED-8CF6B5D0D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</a:t>
            </a: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6D0587C-6590-4605-1667-9AF0D626A8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33395" y="356641"/>
            <a:ext cx="5092561" cy="5003441"/>
          </a:xfrm>
          <a:prstGeom prst="rect">
            <a:avLst/>
          </a:prstGeom>
        </p:spPr>
      </p:pic>
      <p:pic>
        <p:nvPicPr>
          <p:cNvPr id="8" name="Picture 7" descr="A white background with red and green text&#10;&#10;AI-generated content may be incorrect.">
            <a:extLst>
              <a:ext uri="{FF2B5EF4-FFF2-40B4-BE49-F238E27FC236}">
                <a16:creationId xmlns:a16="http://schemas.microsoft.com/office/drawing/2014/main" id="{246DB88E-5C4F-B119-AE99-42C704AE0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395" y="5360082"/>
            <a:ext cx="5092561" cy="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8192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652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70504723-4847-B279-DB59-39EF153D1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917" y="643467"/>
            <a:ext cx="8346165" cy="5571066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69A3A004-2FCC-A839-4F4D-82CD19D0475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564524" y="-102476"/>
            <a:ext cx="3683876" cy="3683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3DA6D3CD-0363-BB44-5B18-5AE58A0421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268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A0D0AB7-2806-F5F3-AB0D-DAE25B3E4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927" y="182416"/>
            <a:ext cx="5708073" cy="3187696"/>
          </a:xfrm>
          <a:prstGeom prst="rect">
            <a:avLst/>
          </a:prstGeom>
          <a:ln>
            <a:solidFill>
              <a:srgbClr val="7030A0"/>
            </a:solidFill>
            <a:prstDash val="lgDash"/>
          </a:ln>
        </p:spPr>
      </p:pic>
      <p:pic>
        <p:nvPicPr>
          <p:cNvPr id="8" name="Picture 7" descr="A blue and white graph&#10;&#10;AI-generated content may be incorrect.">
            <a:extLst>
              <a:ext uri="{FF2B5EF4-FFF2-40B4-BE49-F238E27FC236}">
                <a16:creationId xmlns:a16="http://schemas.microsoft.com/office/drawing/2014/main" id="{67A3B431-8199-64B7-B948-B245CCB6FB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684" y="182416"/>
            <a:ext cx="4535626" cy="302375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10" name="Picture 9" descr="A diagram of a graph&#10;&#10;AI-generated content may be incorrect.">
            <a:extLst>
              <a:ext uri="{FF2B5EF4-FFF2-40B4-BE49-F238E27FC236}">
                <a16:creationId xmlns:a16="http://schemas.microsoft.com/office/drawing/2014/main" id="{9AE9C298-A721-DA02-D62C-A3BF0E745F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9684" y="3560627"/>
            <a:ext cx="4535626" cy="3023751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1A4306-79BD-7FBC-2973-91B4FF8600D1}"/>
              </a:ext>
            </a:extLst>
          </p:cNvPr>
          <p:cNvSpPr txBox="1"/>
          <p:nvPr/>
        </p:nvSpPr>
        <p:spPr>
          <a:xfrm>
            <a:off x="387928" y="3985170"/>
            <a:ext cx="5708072" cy="193899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Initial Experiment with K=5 with split train/test (80/20)</a:t>
            </a:r>
          </a:p>
        </p:txBody>
      </p:sp>
    </p:spTree>
    <p:extLst>
      <p:ext uri="{BB962C8B-B14F-4D97-AF65-F5344CB8AC3E}">
        <p14:creationId xmlns:p14="http://schemas.microsoft.com/office/powerpoint/2010/main" val="27438767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DE0FE3D7-838F-70A0-7E5E-569460B2FB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817" y="64294"/>
            <a:ext cx="3545251" cy="672941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pic>
        <p:nvPicPr>
          <p:cNvPr id="7" name="Picture 6" descr="A table of numbers and a train&#10;&#10;AI-generated content may be incorrect.">
            <a:extLst>
              <a:ext uri="{FF2B5EF4-FFF2-40B4-BE49-F238E27FC236}">
                <a16:creationId xmlns:a16="http://schemas.microsoft.com/office/drawing/2014/main" id="{7D838CB4-2840-A484-8589-F92CA95016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579" y="100727"/>
            <a:ext cx="3545251" cy="669298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C5AEC4A-D94A-6DB4-816B-D59BC171CAA1}"/>
              </a:ext>
            </a:extLst>
          </p:cNvPr>
          <p:cNvSpPr txBox="1"/>
          <p:nvPr/>
        </p:nvSpPr>
        <p:spPr>
          <a:xfrm>
            <a:off x="7983216" y="1246614"/>
            <a:ext cx="3843338" cy="440120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Ran 94 experiments of KNN models with different K’s ranging from 1 to 94 to observe accuracy</a:t>
            </a:r>
          </a:p>
        </p:txBody>
      </p:sp>
    </p:spTree>
    <p:extLst>
      <p:ext uri="{BB962C8B-B14F-4D97-AF65-F5344CB8AC3E}">
        <p14:creationId xmlns:p14="http://schemas.microsoft.com/office/powerpoint/2010/main" val="395584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aph with blue and orange lines&#10;&#10;AI-generated content may be incorrect.">
            <a:extLst>
              <a:ext uri="{FF2B5EF4-FFF2-40B4-BE49-F238E27FC236}">
                <a16:creationId xmlns:a16="http://schemas.microsoft.com/office/drawing/2014/main" id="{4FBB33D3-EEA2-A3B9-64C6-F2F5942C4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584" y="220521"/>
            <a:ext cx="9952831" cy="6416957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893619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1BE3FA7-0D70-4431-814F-D8C40576E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blue and white graph&#10;&#10;AI-generated content may be incorrect.">
            <a:extLst>
              <a:ext uri="{FF2B5EF4-FFF2-40B4-BE49-F238E27FC236}">
                <a16:creationId xmlns:a16="http://schemas.microsoft.com/office/drawing/2014/main" id="{FFAF5CC4-22E4-93FF-04BE-FCFA432574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01" t="5223" r="14921" b="1"/>
          <a:stretch>
            <a:fillRect/>
          </a:stretch>
        </p:blipFill>
        <p:spPr>
          <a:xfrm>
            <a:off x="321732" y="857250"/>
            <a:ext cx="5668684" cy="5443557"/>
          </a:xfrm>
          <a:prstGeom prst="rect">
            <a:avLst/>
          </a:prstGeom>
        </p:spPr>
      </p:pic>
      <p:pic>
        <p:nvPicPr>
          <p:cNvPr id="3" name="Picture 2" descr="A blue and white graph&#10;&#10;AI-generated content may be incorrect.">
            <a:extLst>
              <a:ext uri="{FF2B5EF4-FFF2-40B4-BE49-F238E27FC236}">
                <a16:creationId xmlns:a16="http://schemas.microsoft.com/office/drawing/2014/main" id="{90A02793-AD4A-1FFC-67DF-0439B9976A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090" t="5224" r="14960" b="1"/>
          <a:stretch>
            <a:fillRect/>
          </a:stretch>
        </p:blipFill>
        <p:spPr>
          <a:xfrm>
            <a:off x="6195375" y="857249"/>
            <a:ext cx="5674893" cy="5443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1669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A1A8-4A85-F450-47DC-087C273E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5267-615A-BED3-41ED-79D3285D1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Predicting Star Types using the OPTICS model</a:t>
            </a:r>
          </a:p>
        </p:txBody>
      </p:sp>
    </p:spTree>
    <p:extLst>
      <p:ext uri="{BB962C8B-B14F-4D97-AF65-F5344CB8AC3E}">
        <p14:creationId xmlns:p14="http://schemas.microsoft.com/office/powerpoint/2010/main" val="18972584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B51BD7-B5CB-A550-5AC7-273092236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71B62BE2-F600-0B03-1C39-6A3092033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F46AFD-2827-9B41-A0F3-A28446D7A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CACF7A-1A0E-2CB3-03E4-729F49FCFB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4365" y="2909500"/>
            <a:ext cx="7243683" cy="661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7848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F465EB-AC84-54C4-28BD-D3E8A958AC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150" y="1892300"/>
            <a:ext cx="75057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6261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22D59C8-31B7-C60B-D1DB-3646D2E650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581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630101-9D34-E803-3E39-639711E96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950" y="5001397"/>
            <a:ext cx="3340100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3008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186</TotalTime>
  <Words>523</Words>
  <Application>Microsoft Macintosh PowerPoint</Application>
  <PresentationFormat>Widescreen</PresentationFormat>
  <Paragraphs>39</Paragraphs>
  <Slides>25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Aptos</vt:lpstr>
      <vt:lpstr>Arial</vt:lpstr>
      <vt:lpstr>Calibri</vt:lpstr>
      <vt:lpstr>Calibri Light</vt:lpstr>
      <vt:lpstr>DM Sans</vt:lpstr>
      <vt:lpstr>Merriweather</vt:lpstr>
      <vt:lpstr>Times New Roman</vt:lpstr>
      <vt:lpstr>Office 2013 - 2022 Theme</vt:lpstr>
      <vt:lpstr>Predicting Star Types</vt:lpstr>
      <vt:lpstr>Our Objective</vt:lpstr>
      <vt:lpstr>Exploratory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Predicting Star Types using the Decision Tree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Predicting Star Types using K-Nearest Neighbor model (KNN)</vt:lpstr>
      <vt:lpstr>Code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Predicting Star Types using the OPTICS model</vt:lpstr>
      <vt:lpstr>Code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Aiden Michael Hammond</dc:creator>
  <cp:lastModifiedBy>Aiden Michael Hammond</cp:lastModifiedBy>
  <cp:revision>4</cp:revision>
  <dcterms:created xsi:type="dcterms:W3CDTF">2025-11-04T16:17:41Z</dcterms:created>
  <dcterms:modified xsi:type="dcterms:W3CDTF">2025-11-13T17:18:33Z</dcterms:modified>
</cp:coreProperties>
</file>